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p="http://schemas.openxmlformats.org/presentationml/2006/main" xmlns:r="http://schemas.openxmlformats.org/officeDocument/2006/relationships">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9144000" cy="5143500"/>
</p:presentation>
</file>

<file path=ppt/_rels/presentation.xml.rels><?xml version="1.0" encoding="UTF-8"?><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Foundations</a:t>
            </a:r>
          </a:p>
        </p:txBody>
      </p:sp>
      <p:sp>
        <p:nvSpPr>
          <p:cNvPr id="3" name="Body"/>
          <p:cNvSpPr/>
          <p:nvPr/>
        </p:nvSpPr>
        <p:spPr>
          <a:xfrm>
            <a:off x="400000" y="1400000"/>
            <a:ext cx="8000000" cy="3000000"/>
          </a:xfrm>
        </p:spPr>
        <p:txBody>
          <a:bodyPr/>
          <a:lstStyle/>
          <a:p>
            <a:r>
              <a:rPr lang="en-US" sz="1800"/>
              <a:t>A voice change is a tenant change. Identity, domain, and admin role decide whether the later work can exist. Confirm before relying. Independent free learning-only project.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Licensing</a:t>
            </a:r>
          </a:p>
        </p:txBody>
      </p:sp>
      <p:sp>
        <p:nvSpPr>
          <p:cNvPr id="3" name="Body"/>
          <p:cNvSpPr/>
          <p:nvPr/>
        </p:nvSpPr>
        <p:spPr>
          <a:xfrm>
            <a:off x="400000" y="1400000"/>
            <a:ext cx="8000000" cy="3000000"/>
          </a:xfrm>
        </p:spPr>
        <p:txBody>
          <a:bodyPr/>
          <a:lstStyle/>
          <a:p>
            <a:r>
              <a:rPr lang="en-US" sz="1800"/>
              <a:t>The wrong SKU looks like a routing bug. Teams Phone, Calling Plans, Audio Conferencing, resource accounts, and Teams Premium are different purchases. Confirm before relying. Independent free learning-only project.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PowerShell and admin</a:t>
            </a:r>
          </a:p>
        </p:txBody>
      </p:sp>
      <p:sp>
        <p:nvSpPr>
          <p:cNvPr id="3" name="Body"/>
          <p:cNvSpPr/>
          <p:nvPr/>
        </p:nvSpPr>
        <p:spPr>
          <a:xfrm>
            <a:off x="400000" y="1400000"/>
            <a:ext cx="8000000" cy="3000000"/>
          </a:xfrm>
        </p:spPr>
        <p:txBody>
          <a:bodyPr/>
          <a:lstStyle/>
          <a:p>
            <a:r>
              <a:rPr lang="en-US" sz="1800"/>
              <a:t>The portal hides order. The shell shows the object you actually changed, and it is how compliance recording is assigned. Confirm before relying. Independent free learning-only project.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Network and QoS</a:t>
            </a:r>
          </a:p>
        </p:txBody>
      </p:sp>
      <p:sp>
        <p:nvSpPr>
          <p:cNvPr id="3" name="Body"/>
          <p:cNvSpPr/>
          <p:nvPr/>
        </p:nvSpPr>
        <p:spPr>
          <a:xfrm>
            <a:off x="400000" y="1400000"/>
            <a:ext cx="8000000" cy="3000000"/>
          </a:xfrm>
        </p:spPr>
        <p:txBody>
          <a:bodyPr/>
          <a:lstStyle/>
          <a:p>
            <a:r>
              <a:rPr lang="en-US" sz="1800"/>
              <a:t>Teams audio dies in the same queues as file copies unless the path is short and the mark survives. Confirm before relying. Independent free learning-only project.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PSTN connectivity</a:t>
            </a:r>
          </a:p>
        </p:txBody>
      </p:sp>
      <p:sp>
        <p:nvSpPr>
          <p:cNvPr id="3" name="Body"/>
          <p:cNvSpPr/>
          <p:nvPr/>
        </p:nvSpPr>
        <p:spPr>
          <a:xfrm>
            <a:off x="400000" y="1400000"/>
            <a:ext cx="8000000" cy="3000000"/>
          </a:xfrm>
        </p:spPr>
        <p:txBody>
          <a:bodyPr/>
          <a:lstStyle/>
          <a:p>
            <a:r>
              <a:rPr lang="en-US" sz="1800"/>
              <a:t>Every external call uses one of four connectivity options. Mixing them is allowed. Pretending they are the same license is not. Confirm before relying. Independent free learning-only project.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Routing and dial plans</a:t>
            </a:r>
          </a:p>
        </p:txBody>
      </p:sp>
      <p:sp>
        <p:nvSpPr>
          <p:cNvPr id="3" name="Body"/>
          <p:cNvSpPr/>
          <p:nvPr/>
        </p:nvSpPr>
        <p:spPr>
          <a:xfrm>
            <a:off x="400000" y="1400000"/>
            <a:ext cx="8000000" cy="3000000"/>
          </a:xfrm>
        </p:spPr>
        <p:txBody>
          <a:bodyPr/>
          <a:lstStyle/>
          <a:p>
            <a:r>
              <a:rPr lang="en-US" sz="1800"/>
              <a:t>Normalization and routing are two steps. A number that is not E.164 never gets a fair chance at a voice route. Confirm before relying. Independent free learning-only project.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Attendants and queues</a:t>
            </a:r>
          </a:p>
        </p:txBody>
      </p:sp>
      <p:sp>
        <p:nvSpPr>
          <p:cNvPr id="3" name="Body"/>
          <p:cNvSpPr/>
          <p:nvPr/>
        </p:nvSpPr>
        <p:spPr>
          <a:xfrm>
            <a:off x="400000" y="1400000"/>
            <a:ext cx="8000000" cy="3000000"/>
          </a:xfrm>
        </p:spPr>
        <p:txBody>
          <a:bodyPr/>
          <a:lstStyle/>
          <a:p>
            <a:r>
              <a:rPr lang="en-US" sz="1800"/>
              <a:t>The number people publish is often a voice app, not a human. The resource account is the identity of that app. Confirm before relying. Independent free learning-only project.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Emergency, LBR, survivability</a:t>
            </a:r>
          </a:p>
        </p:txBody>
      </p:sp>
      <p:sp>
        <p:nvSpPr>
          <p:cNvPr id="3" name="Body"/>
          <p:cNvSpPr/>
          <p:nvPr/>
        </p:nvSpPr>
        <p:spPr>
          <a:xfrm>
            <a:off x="400000" y="1400000"/>
            <a:ext cx="8000000" cy="3000000"/>
          </a:xfrm>
        </p:spPr>
        <p:txBody>
          <a:bodyPr/>
          <a:lstStyle/>
          <a:p>
            <a:r>
              <a:rPr lang="en-US" sz="1800"/>
              <a:t>Emergency calling is a design gate, not a checkbox after go-live. Location-based routing and branch survivability use the same network map. Confirm before relying. Independent free learning-only project.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Devices and media</a:t>
            </a:r>
          </a:p>
        </p:txBody>
      </p:sp>
      <p:sp>
        <p:nvSpPr>
          <p:cNvPr id="3" name="Body"/>
          <p:cNvSpPr/>
          <p:nvPr/>
        </p:nvSpPr>
        <p:spPr>
          <a:xfrm>
            <a:off x="400000" y="1400000"/>
            <a:ext cx="8000000" cy="3000000"/>
          </a:xfrm>
        </p:spPr>
        <p:txBody>
          <a:bodyPr/>
          <a:lstStyle/>
          <a:p>
            <a:r>
              <a:rPr lang="en-US" sz="1800"/>
              <a:t>Phones, rooms, and media bypass change where RTP flows. Signaling still belongs to Teams. Confirm before relying. Independent free learning-only project.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Session border controllers</a:t>
            </a:r>
          </a:p>
        </p:txBody>
      </p:sp>
      <p:sp>
        <p:nvSpPr>
          <p:cNvPr id="3" name="Body"/>
          <p:cNvSpPr/>
          <p:nvPr/>
        </p:nvSpPr>
        <p:spPr>
          <a:xfrm>
            <a:off x="400000" y="1400000"/>
            <a:ext cx="8000000" cy="3000000"/>
          </a:xfrm>
        </p:spPr>
        <p:txBody>
          <a:bodyPr/>
          <a:lstStyle/>
          <a:p>
            <a:r>
              <a:rPr lang="en-US" sz="1800"/>
              <a:t>Microsoft supports Direct Routing on certified SBCs. AudioCodes, Ribbon, Oracle, and Cisco CUBE are families you will meet. The support path starts with the vendor. Confirm before relying. Independent free learning-only project.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TLS, certificates, SIP</a:t>
            </a:r>
          </a:p>
        </p:txBody>
      </p:sp>
      <p:sp>
        <p:nvSpPr>
          <p:cNvPr id="3" name="Body"/>
          <p:cNvSpPr/>
          <p:nvPr/>
        </p:nvSpPr>
        <p:spPr>
          <a:xfrm>
            <a:off x="400000" y="1400000"/>
            <a:ext cx="8000000" cy="3000000"/>
          </a:xfrm>
        </p:spPr>
        <p:txBody>
          <a:bodyPr/>
          <a:lstStyle/>
          <a:p>
            <a:r>
              <a:rPr lang="en-US" sz="1800"/>
              <a:t>A dial-plan argument is wasted when the certificate name is wrong. OPTIONS tell you the trunk is alive. Confirm before relying. Independent free learning-only project.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Troubleshooting</a:t>
            </a:r>
          </a:p>
        </p:txBody>
      </p:sp>
      <p:sp>
        <p:nvSpPr>
          <p:cNvPr id="3" name="Body"/>
          <p:cNvSpPr/>
          <p:nvPr/>
        </p:nvSpPr>
        <p:spPr>
          <a:xfrm>
            <a:off x="400000" y="1400000"/>
            <a:ext cx="8000000" cy="3000000"/>
          </a:xfrm>
        </p:spPr>
        <p:txBody>
          <a:bodyPr/>
          <a:lstStyle/>
          <a:p>
            <a:r>
              <a:rPr lang="en-US" sz="1800"/>
              <a:t>Call Analytics is one call. CQD is a building. The SBC trace is the ladder. Mixing them up wastes the hour. Confirm before relying. Independent free learning-only project.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Dynamics contact center</a:t>
            </a:r>
          </a:p>
        </p:txBody>
      </p:sp>
      <p:sp>
        <p:nvSpPr>
          <p:cNvPr id="3" name="Body"/>
          <p:cNvSpPr/>
          <p:nvPr/>
        </p:nvSpPr>
        <p:spPr>
          <a:xfrm>
            <a:off x="400000" y="1400000"/>
            <a:ext cx="8000000" cy="3000000"/>
          </a:xfrm>
        </p:spPr>
        <p:txBody>
          <a:bodyPr/>
          <a:lstStyle/>
          <a:p>
            <a:r>
              <a:rPr lang="en-US" sz="1800"/>
              <a:t>Dynamics 365 Contact Center is Microsoft’s CCaaS. Unified routing, channels, and Copilot are the job, and AB-250 is the exam that matches it. Confirm before relying. Independent free learning-only project.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Coexistence and CCaaS</a:t>
            </a:r>
          </a:p>
        </p:txBody>
      </p:sp>
      <p:sp>
        <p:nvSpPr>
          <p:cNvPr id="3" name="Body"/>
          <p:cNvSpPr/>
          <p:nvPr/>
        </p:nvSpPr>
        <p:spPr>
          <a:xfrm>
            <a:off x="400000" y="1400000"/>
            <a:ext cx="8000000" cy="3000000"/>
          </a:xfrm>
        </p:spPr>
        <p:txBody>
          <a:bodyPr/>
          <a:lstStyle/>
          <a:p>
            <a:r>
              <a:rPr lang="en-US" sz="1800"/>
              <a:t>Connect, Extend, and Unify are different media paths. CUCM, Webex, UCCE, Genesys, and Amazon Connect each need a named bridge, not a slogan. Confirm before relying. Independent free learning-only project.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ACS, Speech, Copilot</a:t>
            </a:r>
          </a:p>
        </p:txBody>
      </p:sp>
      <p:sp>
        <p:nvSpPr>
          <p:cNvPr id="3" name="Body"/>
          <p:cNvSpPr/>
          <p:nvPr/>
        </p:nvSpPr>
        <p:spPr>
          <a:xfrm>
            <a:off x="400000" y="1400000"/>
            <a:ext cx="8000000" cy="3000000"/>
          </a:xfrm>
        </p:spPr>
        <p:txBody>
          <a:bodyPr/>
          <a:lstStyle/>
          <a:p>
            <a:r>
              <a:rPr lang="en-US" sz="1800"/>
              <a:t>Call Automation is a server-side call with events. Speech and Copilot Studio can sit in the recognize step. Foundry is where you evaluate a model, not a second phone system. Confirm before relying. Independent free learning-only project.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Certifications and status</a:t>
            </a:r>
          </a:p>
        </p:txBody>
      </p:sp>
      <p:sp>
        <p:nvSpPr>
          <p:cNvPr id="3" name="Body"/>
          <p:cNvSpPr/>
          <p:nvPr/>
        </p:nvSpPr>
        <p:spPr>
          <a:xfrm>
            <a:off x="400000" y="1400000"/>
            <a:ext cx="8000000" cy="3000000"/>
          </a:xfrm>
        </p:spPr>
        <p:txBody>
          <a:bodyPr/>
          <a:lstStyle/>
          <a:p>
            <a:r>
              <a:rPr lang="en-US" sz="1800"/>
              <a:t>MS-700 is still live, with a skills update on Oct 27 2026; it is NOT retired and has no replacement. MB-280 retired Jul 31 2026, with AB-210 as its successor; AB-210 is in beta. Confirm before relying. Independent free learning-only project.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400000" y="300000"/>
            <a:ext cx="8000000" cy="800000"/>
          </a:xfrm>
        </p:spPr>
        <p:txBody>
          <a:bodyPr/>
          <a:lstStyle/>
          <a:p>
            <a:r>
              <a:rPr lang="en-US" sz="3200"/>
              <a:t>Ecosystem</a:t>
            </a:r>
          </a:p>
        </p:txBody>
      </p:sp>
      <p:sp>
        <p:nvSpPr>
          <p:cNvPr id="3" name="Body"/>
          <p:cNvSpPr/>
          <p:nvPr/>
        </p:nvSpPr>
        <p:spPr>
          <a:xfrm>
            <a:off x="400000" y="1400000"/>
            <a:ext cx="8000000" cy="3000000"/>
          </a:xfrm>
        </p:spPr>
        <p:txBody>
          <a:bodyPr/>
          <a:lstStyle/>
          <a:p>
            <a:r>
              <a:rPr lang="en-US" sz="1800"/>
              <a:t>The call is not finished when it rings. Recording, workforce management, emergency location, analytics, CRM, and agents attach at seams you can name. Confirm before relying. Independent free learning-only project.</a:t>
            </a:r>
          </a:p>
        </p:txBody>
      </p:sp>
    </p:spTree>
  </p:cSld>
  <p:clrMapOvr>
    <a:masterClrMapping/>
  </p:clrMapOvr>
</p:sld>
</file>